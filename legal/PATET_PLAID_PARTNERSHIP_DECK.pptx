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164592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Inter"/>
              </a:rPr>
              <a:t>PATET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Inter"/>
              </a:rPr>
              <a:t>Money skills + your real bank data + an AI coach who knows what you’re actually spending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Inter"/>
              </a:rPr>
              <a:t>Plaid IAM partnership briefing  ·  prepared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Plainly Digital LLC  ·  Operator: Jonathan Brock, Managing Member  ·  plainlydigital.com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0F0F"/>
                </a:solidFill>
                <a:latin typeface="Inter"/>
              </a:rPr>
              <a:t>Three forces are converging. Patet sits exactly in the middle.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11880" cy="4023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0F0F"/>
                </a:solidFill>
                <a:latin typeface="Inter"/>
              </a:rPr>
              <a:t>AI quality crossed the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3063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Frontier LLMs (Claude Sonnet, GPT-4o) can now answer real personal-finance questions accurately and on-budget.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Inference cost has fallen &gt;50% YoY — viable at sub-$3 MRR.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Coach-style products (Cleo, Origin) have validated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611880" cy="4023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0F0F"/>
                </a:solidFill>
                <a:latin typeface="Inter"/>
              </a:rPr>
              <a:t>Mint left a vacuum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566160"/>
            <a:ext cx="3063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Intuit shut Mint down March 2024. ~20M users displaced.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Premium replacements (Monarch, Copilot) cost $13–$15/mo. None of them ship a curriculum.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The free-tier hole is wide open below $5/mo.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611880" cy="4023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0F0F"/>
                </a:solidFill>
                <a:latin typeface="Inter"/>
              </a:rPr>
              <a:t>Gen Z is unbanked on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566160"/>
            <a:ext cx="3063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Only 24% of Gen Z feel confident managing money. 36% find finance “confusing.”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Gen Z gamified-literacy market: $0.31B (2025) → $1.92B (2034), 22.9% CAGR.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No incumbent owns this segment with both bank data + curriculum.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Patet · Plainly Digital LLC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0F0F"/>
                </a:solidFill>
                <a:latin typeface="Inter"/>
              </a:rPr>
              <a:t>A real category, an underserved sub-segment, an obvious wedge.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0F0F"/>
                </a:solidFill>
                <a:latin typeface="Inter"/>
              </a:rPr>
              <a:t>The category is real, the entry tier is empty.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8521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0B981"/>
                </a:solidFill>
                <a:latin typeface="Inter"/>
              </a:rPr>
              <a:t>•  </a:t>
            </a:r>
            <a:r>
              <a:rPr sz="1300">
                <a:solidFill>
                  <a:srgbClr val="0F0F0F"/>
                </a:solidFill>
                <a:latin typeface="Inter"/>
              </a:rPr>
              <a:t>Personal-finance software TAM: $1.08B (2022) → $1.59B (2030), 5.1% CAGR. Source: Grand View Research.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1">
                <a:solidFill>
                  <a:srgbClr val="10B981"/>
                </a:solidFill>
                <a:latin typeface="Inter"/>
              </a:rPr>
              <a:t>•  </a:t>
            </a:r>
            <a:r>
              <a:rPr sz="1300">
                <a:solidFill>
                  <a:srgbClr val="0F0F0F"/>
                </a:solidFill>
                <a:latin typeface="Inter"/>
              </a:rPr>
              <a:t>Broader personal-finance-apps market projected $207B (2026) → $507B (2030). Source: Business Research Company.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1">
                <a:solidFill>
                  <a:srgbClr val="10B981"/>
                </a:solidFill>
                <a:latin typeface="Inter"/>
              </a:rPr>
              <a:t>•  </a:t>
            </a:r>
            <a:r>
              <a:rPr sz="1300">
                <a:solidFill>
                  <a:srgbClr val="0F0F0F"/>
                </a:solidFill>
                <a:latin typeface="Inter"/>
              </a:rPr>
              <a:t>Gen Z gamified-literacy subsegment is the fastest-growing slice: 22.9% CAGR to 2034.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1">
                <a:solidFill>
                  <a:srgbClr val="10B981"/>
                </a:solidFill>
                <a:latin typeface="Inter"/>
              </a:rPr>
              <a:t>•  </a:t>
            </a:r>
            <a:r>
              <a:rPr sz="1300">
                <a:solidFill>
                  <a:srgbClr val="0F0F0F"/>
                </a:solidFill>
                <a:latin typeface="Inter"/>
              </a:rPr>
              <a:t>Mint shutdown (Mar 2024) → ~20M users displaced. Monarch absorbed ~1M (April 2026, $850M valuation, $75M Series B).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1">
                <a:solidFill>
                  <a:srgbClr val="10B981"/>
                </a:solidFill>
                <a:latin typeface="Inter"/>
              </a:rPr>
              <a:t>•  </a:t>
            </a:r>
            <a:r>
              <a:rPr sz="1300">
                <a:solidFill>
                  <a:srgbClr val="0F0F0F"/>
                </a:solidFill>
                <a:latin typeface="Inter"/>
              </a:rPr>
              <a:t>Rocket Money grew to 10M+ members post-Mint. Copilot Money grew to 100K+ paying.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1">
                <a:solidFill>
                  <a:srgbClr val="10B981"/>
                </a:solidFill>
                <a:latin typeface="Inter"/>
              </a:rPr>
              <a:t>•  </a:t>
            </a:r>
            <a:r>
              <a:rPr sz="1300">
                <a:solidFill>
                  <a:srgbClr val="0F0F0F"/>
                </a:solidFill>
                <a:latin typeface="Inter"/>
              </a:rPr>
              <a:t>Median competitor Pro tier price: $12.99/mo. Median annual: ~$95. Patet enters at $2.99 / $6.99.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011680"/>
            <a:ext cx="5059375" cy="420624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286000"/>
            <a:ext cx="4419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The gap, in one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788920"/>
            <a:ext cx="441929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No competitor in the US market bundles a structured financial-literacy curriculum, live bank data, and a real LLM coach in a single product priced under $7/month.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5212080"/>
            <a:ext cx="4419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Inter"/>
              </a:rPr>
              <a:t>Cleo has personality but no curriculum. Origin has SEC-regulated AI but no lessons and $13/mo entry. Ramsey has curriculum but no AI or live bank data. YNAB has bank data but no AI, no lessons, and a $15/mo floor.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Patet · Plainly Digital LLC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0F0F"/>
                </a:solidFill>
                <a:latin typeface="Inter"/>
              </a:rPr>
              <a:t>What ships today — one screen.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36443" cy="12801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26364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26364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F0F0F"/>
                </a:solidFill>
                <a:latin typeface="Inter"/>
              </a:rPr>
              <a:t>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7963" y="2011680"/>
            <a:ext cx="2636443" cy="12801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7963" y="2148840"/>
            <a:ext cx="26364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Inter"/>
              </a:rPr>
              <a:t>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7963" y="2788920"/>
            <a:ext cx="26364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F0F0F"/>
                </a:solidFill>
                <a:latin typeface="Inter"/>
              </a:rPr>
              <a:t>lessons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2011680"/>
            <a:ext cx="2636443" cy="12801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7287" y="2148840"/>
            <a:ext cx="26364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Inter"/>
              </a:rPr>
              <a:t>36+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7287" y="2788920"/>
            <a:ext cx="26364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F0F0F"/>
                </a:solidFill>
                <a:latin typeface="Inter"/>
              </a:rPr>
              <a:t>screens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611" y="2011680"/>
            <a:ext cx="2636443" cy="12801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611" y="2148840"/>
            <a:ext cx="26364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Inter"/>
              </a:rPr>
              <a:t>EN / 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611" y="2788920"/>
            <a:ext cx="26364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F0F0F"/>
                </a:solidFill>
                <a:latin typeface="Inter"/>
              </a:rPr>
              <a:t>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35762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0F0F"/>
                </a:solidFill>
                <a:latin typeface="Inter"/>
              </a:rPr>
              <a:t>Curriculum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357621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18 modules · 121 lessons (~2–5 min each)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242 quiz cards, 50-question final assessment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Modules incl. Paycheck, Debt, Saving, Budgeting, Investing, Credit, Student Loans, Mental-Health-of-money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Spanish parity shipped (LATAM reviewer pass pending)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7738" y="3611880"/>
            <a:ext cx="35762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0F0F"/>
                </a:solidFill>
                <a:latin typeface="Inter"/>
              </a:rPr>
              <a:t>AI coach (Glyphe)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7738" y="4023360"/>
            <a:ext cx="357621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Claude Sonnet 4.6 (Coached) + Haiku 4.5 (Free/Connected)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Knows your 121 lessons + 11 affiliate products + your Plaid spending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4 personas unlocked by progress: Older Sibling → Strategist → Therapist → Hype Friend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Voice in/out · streaming · follow-up chips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Crisis detection + medical/legal/financial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6836" y="3611880"/>
            <a:ext cx="35762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0F0F"/>
                </a:solidFill>
                <a:latin typeface="Inter"/>
              </a:rPr>
              <a:t>Bank data +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6836" y="4023360"/>
            <a:ext cx="357621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Plaid Link (Transactions + Liabilities), encrypted tokens (AES-256-GCM)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Statement upload — PDF / CSV / Excel, AI-extracted transactions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5 calculators, What-If scenarios, Future You, Money Roast, Money IQ, Salary negotiation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Spending-pattern detection → ranked lesson recs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Peer benchmarks (20-user minimum cohort, k-anonymity)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Patet · Plainly Digital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0F0F"/>
                </a:solidFill>
                <a:latin typeface="Inter"/>
              </a:rPr>
              <a:t>Three layers, no competitor has all three.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2103120"/>
            <a:ext cx="3291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331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F0F0F"/>
                </a:solidFill>
                <a:latin typeface="Inter"/>
              </a:rPr>
              <a:t>Curriculum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834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Inter"/>
              </a:rPr>
              <a:t>18 modules · 121 lessons · cert exam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103120"/>
            <a:ext cx="3291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331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F0F0F"/>
                </a:solidFill>
                <a:latin typeface="Inter"/>
              </a:rPr>
              <a:t>Live bank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834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Inter"/>
              </a:rPr>
              <a:t>Plaid + statement upload · 90d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114800"/>
            <a:ext cx="3291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3434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F0F0F"/>
                </a:solidFill>
                <a:latin typeface="Inter"/>
              </a:rPr>
              <a:t>AI coach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Inter"/>
              </a:rPr>
              <a:t>Claude Sonnet / Haiku · spending-aware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3474720"/>
            <a:ext cx="20116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7947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PATET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F0F0F"/>
                </a:solidFill>
                <a:latin typeface="Inter"/>
              </a:rPr>
              <a:t>Ramsey owns curriculum but has no AI and no real-time bank data. Cleo owns the AI coach but has no curriculum. Monarch / Rocket / Copilot own bank data but ship no lessons and no LLM coach. Patet is the only product at the intersection.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Patet · Plainly Digital LLC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0F0F"/>
                </a:solidFill>
                <a:latin typeface="Inter"/>
              </a:rPr>
              <a:t>Where everyone sits — and where the gaps 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1463040" cy="4114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2057400"/>
            <a:ext cx="1463040" cy="4114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Monthly $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057400"/>
            <a:ext cx="1920240" cy="4114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0574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LLM coach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057400"/>
            <a:ext cx="1188720" cy="4114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05740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Plaid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057400"/>
            <a:ext cx="2011680" cy="4114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574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Curriculum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057400"/>
            <a:ext cx="1828800" cy="4114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05740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Stmt upload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60" y="2057400"/>
            <a:ext cx="1188720" cy="4114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205740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Voice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146304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688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Patet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2468880"/>
            <a:ext cx="146304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24688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$2.99 / $6.99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468880"/>
            <a:ext cx="192024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4688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Yes (Sonnet+Haiku)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468880"/>
            <a:ext cx="118872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24688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468880"/>
            <a:ext cx="201168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468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Yes (121 lessons)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468880"/>
            <a:ext cx="182880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Yes (PDF/CSV/XLS)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24160" y="2468880"/>
            <a:ext cx="118872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24688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9260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9260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YNAB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29260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0" y="29260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$14.99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2926080"/>
            <a:ext cx="1920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29260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292608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0" y="29260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292608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2926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Workshops 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292608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CSV 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292608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29260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383280"/>
            <a:ext cx="146304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383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Rocket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0" y="3383280"/>
            <a:ext cx="146304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03120" y="3383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$7–$14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3383280"/>
            <a:ext cx="192024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66160" y="33832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4960" y="3383280"/>
            <a:ext cx="118872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0" y="33832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3383280"/>
            <a:ext cx="201168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33832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95360" y="3383280"/>
            <a:ext cx="182880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0" y="33832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24160" y="3383280"/>
            <a:ext cx="118872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15600" y="33832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38404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3840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Copilot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0" y="38404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0" y="3840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$13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0" y="3840480"/>
            <a:ext cx="1920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66160" y="38404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Partial (ML)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94960" y="384048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0" y="38404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384048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95360" y="384048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0" y="38404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CSV only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424160" y="384048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15600" y="38404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4297680"/>
            <a:ext cx="146304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4297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Monarch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11680" y="4297680"/>
            <a:ext cx="146304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03120" y="4297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$14.99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0" y="4297680"/>
            <a:ext cx="192024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66160" y="4297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94960" y="4297680"/>
            <a:ext cx="118872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0" y="42976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Yes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0" y="4297680"/>
            <a:ext cx="201168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75120" y="4297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95360" y="4297680"/>
            <a:ext cx="182880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86800" y="4297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CSV only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424160" y="4297680"/>
            <a:ext cx="118872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15600" y="42976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47548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80" y="47548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EveryDollar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11680" y="47548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03120" y="47548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$17.99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74720" y="4754880"/>
            <a:ext cx="1920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66160" y="47548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94960" y="475488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0" y="47548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Premium only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83680" y="475488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75120" y="4754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Ramsey FPU video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95360" y="475488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686800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424160" y="475488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515600" y="47548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5212080"/>
            <a:ext cx="146304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52120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Cleo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11680" y="5212080"/>
            <a:ext cx="146304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103120" y="52120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$5.99–$14.99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474720" y="5212080"/>
            <a:ext cx="192024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566160" y="52120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Yes (multi-model)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94960" y="5212080"/>
            <a:ext cx="118872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86400" y="52120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Yes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83680" y="5212080"/>
            <a:ext cx="201168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75120" y="5212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95360" y="5212080"/>
            <a:ext cx="182880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86800" y="5212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424160" y="5212080"/>
            <a:ext cx="118872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515600" y="52120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Limited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" y="56692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5669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0F0F"/>
                </a:solidFill>
                <a:latin typeface="Inter"/>
              </a:rPr>
              <a:t>Origin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011680" y="56692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03120" y="5669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$12.99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74720" y="5669280"/>
            <a:ext cx="1920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566160" y="56692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Yes (SEC-reg)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394960" y="566928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486400" y="56692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Yes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583680" y="566928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75120" y="56692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595360" y="566928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686800" y="56692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CSV only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424160" y="566928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515600" y="56692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0F0F"/>
                </a:solidFill>
                <a:latin typeface="Inter"/>
              </a:rPr>
              <a:t>No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Patet is the only row that says Yes across LLM coach, Plaid, curriculum, statement upload, and voice — at the lowest price point. Verified May 2026 via vendor pricing pages.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Patet · Plainly Digital LLC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UNIQUE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0F0F"/>
                </a:solidFill>
                <a:latin typeface="Inter"/>
              </a:rPr>
              <a:t>What we ship that nobody else does.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3911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9528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Inter"/>
              </a:rPr>
              <a:t>Spending-aware AI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Claude Sonnet 4.6 with your real Plaid transactions in-context. Not a chatbot — a coach that can say “you spent $340 on restaurants this month; here’s lesson 4.3.”</a:t>
            </a:r>
          </a:p>
        </p:txBody>
      </p:sp>
      <p:sp>
        <p:nvSpPr>
          <p:cNvPr id="9" name="Oval 8"/>
          <p:cNvSpPr/>
          <p:nvPr/>
        </p:nvSpPr>
        <p:spPr>
          <a:xfrm>
            <a:off x="6278727" y="201168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203911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1965960"/>
            <a:ext cx="49528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Inter"/>
              </a:rPr>
              <a:t>Statement upload, multi-format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7" y="225856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PDF, CSV, and Excel bank statements parsed and AI-categorized. Most competitors offer CSV only — or no upload at all.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8036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0779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34640"/>
            <a:ext cx="49528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Inter"/>
              </a:rPr>
              <a:t>121-lesson curriculum at $2.99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2724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Ramsey charges $79.99/year for curriculum alone. Patet ships 18 modules + 121 lessons in the $2.99/mo Connected tier — and unlocks an AI tutor that knows the curriculum cold.</a:t>
            </a:r>
          </a:p>
        </p:txBody>
      </p:sp>
      <p:sp>
        <p:nvSpPr>
          <p:cNvPr id="17" name="Oval 16"/>
          <p:cNvSpPr/>
          <p:nvPr/>
        </p:nvSpPr>
        <p:spPr>
          <a:xfrm>
            <a:off x="6278727" y="288036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290779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2834640"/>
            <a:ext cx="49528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Inter"/>
              </a:rPr>
              <a:t>Learn-then-unlock coach personas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0207" y="312724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Four coach personalities unlock at module milestones (Older Sibling default → Strategist @5 → Therapist @10 → Hype Friend @15). Gamifies completion.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7490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7647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703320"/>
            <a:ext cx="49528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Inter"/>
              </a:rPr>
              <a:t>Money Roast + Future You + Money Personality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99592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Emotional engagement layer that competitors don’t ship. Roast gives a 3-tone spending critique. Future You projects your life at 30. Personality maps you to 5 archetypes.</a:t>
            </a:r>
          </a:p>
        </p:txBody>
      </p:sp>
      <p:sp>
        <p:nvSpPr>
          <p:cNvPr id="25" name="Oval 24"/>
          <p:cNvSpPr/>
          <p:nvPr/>
        </p:nvSpPr>
        <p:spPr>
          <a:xfrm>
            <a:off x="6278727" y="37490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8727" y="377647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0207" y="3703320"/>
            <a:ext cx="49528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Inter"/>
              </a:rPr>
              <a:t>Voice in / voice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0207" y="399592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Native Web Speech on web; expo-speech on mobile. Full voice-mode conversation. Cleo has voice; no other competitor in the matrix does.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61772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4515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572000"/>
            <a:ext cx="49528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Inter"/>
              </a:rPr>
              <a:t>Crisis detection with text normalization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86460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Unicode + homoglyph + l33tspeak normalization on every coach turn. Routes to 988 / Crisis Text Line / 211.org. NIST AI RMF aligned.</a:t>
            </a:r>
          </a:p>
        </p:txBody>
      </p:sp>
      <p:sp>
        <p:nvSpPr>
          <p:cNvPr id="33" name="Oval 32"/>
          <p:cNvSpPr/>
          <p:nvPr/>
        </p:nvSpPr>
        <p:spPr>
          <a:xfrm>
            <a:off x="6278727" y="461772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727" y="464515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0207" y="4572000"/>
            <a:ext cx="49528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Inter"/>
              </a:rPr>
              <a:t>Top-of-funnel viral 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0207" y="486460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Public Financial IQ quiz at /iq (no auth, dynamic OG share image). Free funnel that converts to registered users.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" y="54864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1383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440680"/>
            <a:ext cx="49528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Inter"/>
              </a:rPr>
              <a:t>Spanish curriculum (LATAM)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73328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All 121 lessons + content surfaces translated to LATAM Spanish. Native reviewer pass pending pre-launch. No major US competitor ships Spanish curriculum.</a:t>
            </a:r>
          </a:p>
        </p:txBody>
      </p:sp>
      <p:sp>
        <p:nvSpPr>
          <p:cNvPr id="41" name="Oval 40"/>
          <p:cNvSpPr/>
          <p:nvPr/>
        </p:nvSpPr>
        <p:spPr>
          <a:xfrm>
            <a:off x="6278727" y="54864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8727" y="551383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0207" y="5440680"/>
            <a:ext cx="49528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Inter"/>
              </a:rPr>
              <a:t>Strict-freemium tier gating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0207" y="573328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Plaid + statement upload + advanced calculators + scenarios all sit behind the $2.99 Connected tier. Hard-gated server-side, not trial-and-revoke. Real boundary.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Patet · Plainly Digital LLC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0F0F"/>
                </a:solidFill>
                <a:latin typeface="Inter"/>
              </a:rPr>
              <a:t>Below every competitor's flagship paid tier — by 75%.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6400800" cy="4023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EveryDollar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2415540"/>
            <a:ext cx="3207760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27440" y="237744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$17.99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YNAB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689860"/>
            <a:ext cx="2672836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2516" y="265176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$14.99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Monarch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964180"/>
            <a:ext cx="2672836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2516" y="292608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$14.99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Cleo Builder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238500"/>
            <a:ext cx="2672836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2516" y="320040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$14.99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Albert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3512820"/>
            <a:ext cx="2672836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2516" y="347472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$14.99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4904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Copilot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787140"/>
            <a:ext cx="2318004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7684" y="374904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$13.00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2336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Origin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061460"/>
            <a:ext cx="2316220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5900" y="402336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$12.99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9768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PocketGuard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335780"/>
            <a:ext cx="2316220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35900" y="429768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$12.99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7200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Goodbudget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4610100"/>
            <a:ext cx="1783080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02760" y="457200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$10.00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4632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Rocket Money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4884420"/>
            <a:ext cx="1781296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0976" y="484632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$9.99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12064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Cleo Plus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5158740"/>
            <a:ext cx="1068064" cy="1706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7744" y="512064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$5.99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39496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0F0F0F"/>
                </a:solidFill>
                <a:latin typeface="Inter"/>
              </a:rPr>
              <a:t>Patet Coached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5433060"/>
            <a:ext cx="1246372" cy="1706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66052" y="539496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$6.99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6928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0F0F0F"/>
                </a:solidFill>
                <a:latin typeface="Inter"/>
              </a:rPr>
              <a:t>Patet Connected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5707380"/>
            <a:ext cx="533140" cy="1706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52820" y="566928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$2.99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2103120"/>
            <a:ext cx="45107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0F0F"/>
                </a:solidFill>
                <a:latin typeface="Inter"/>
              </a:rPr>
              <a:t>What this funds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2697480"/>
            <a:ext cx="451073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Free: 10 coach calls/day on Haiku 4.5. Full curriculum.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Connected $2.99: Plaid, statement upload, all calculators, scenarios, credit tracker, 40 coach calls/day.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Coached $6.99: 80 coach calls/day, Claude Sonnet 4.6 (50/mo cap then Haiku fallback), 1,200/mo.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Annual: Connected $24.99 (saves 31%) · Coached $57.99 (saves 31%).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$19 one-time IAP: Patet Certified™ credential with LinkedIn add-to-profile.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>
                <a:solidFill>
                  <a:srgbClr val="0F0F0F"/>
                </a:solidFill>
                <a:latin typeface="Inter"/>
              </a:rPr>
              <a:t>Boost packs: +50 calls $1.99 · +200 calls $4.99.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Patet · Plainly Digital LLC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WHY PLAID IS CORE, NOT BOLT-ON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0F0F"/>
                </a:solidFill>
                <a:latin typeface="Inter"/>
              </a:rPr>
              <a:t>Plaid powers half of Patet's product surface. Removing it would gut Pro.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0F0F"/>
                </a:solidFill>
                <a:latin typeface="Inter"/>
              </a:rPr>
              <a:t>Plaid-dependent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Bank-account linking via Plaid Link (MFA-gated client + server)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Transaction sync (Transactions product, 90-day history + ongoing webhooks)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Liabilities sync (credit cards, student loans, mortgages, auto loans)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Spending-pattern detection (5 pattern types) → ranked lesson recommendations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Peer benchmarks (anonymized, k≥20 cohort minimum)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Coach context: every AI coach turn has Plaid spending data injected into the system prompt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Spending alert notifications (threshold + category-based, deep-linkable)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  <a:latin typeface="Inter"/>
              </a:rPr>
              <a:t>•  </a:t>
            </a:r>
            <a:r>
              <a:rPr sz="1200">
                <a:solidFill>
                  <a:srgbClr val="0F0F0F"/>
                </a:solidFill>
                <a:latin typeface="Inter"/>
              </a:rPr>
              <a:t>Webhook real-time updates (ES256 JWT verified, request_body_sha256 claim verified)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242255" cy="420624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240280"/>
            <a:ext cx="46021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Plaid posture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651760"/>
            <a:ext cx="460217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Products in use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Inter"/>
              </a:rPr>
              <a:t>Transactions, Liabilities · US country code only.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Security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Inter"/>
              </a:rPr>
              <a:t>Plaid access tokens encrypted at rest (AES-256-GCM, dual-write to *_encrypted columns, migration 017).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Access gate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Inter"/>
              </a:rPr>
              <a:t>MFA enforced before /api/plaid/link-token. Email-verified required. 5-min step-up window for Plaid Link replay.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Webhook verification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Inter"/>
              </a:rPr>
              <a:t>ES256 JWT signature, fetched per kid via webhookVerificationKeyGet, JWK→PEM via Node crypto, 5-min replay window.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Off-boarding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Inter"/>
              </a:rPr>
              <a:t>Bank disconnect calls Plaid itemRemove first, then deletes local row. CASCADE on account deletion.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Patet · Plainly Digital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0F0F"/>
                </a:solidFill>
                <a:latin typeface="Inter"/>
              </a:rPr>
              <a:t>We've already done the work most pre-seed startups skip.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Inter"/>
              </a:rP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541004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TOTP MFA (AES-256-GCM secret · SHA-256-HMAC recovery codes · 10 codes, single-use)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MFA enforced as a hard gate before Plaid Link (5-min step-up)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Account lockout (DB-persisted, survives Render redeploys)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JWT revocation by jti (migration 016)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httpOnly + sameSite cookies on web; Bearer header on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6596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Inter"/>
              </a:rPr>
              <a:t>Data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2377440"/>
            <a:ext cx="541004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AES-256-GCM at rest on Plaid tokens, financial PII, MFA secrets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Annual encryption-key rotation procedure documented (InfoSec §7)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Self-serve user data export (GET /api/auth/me/export, JSON, redactions enforced)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Right-to-erasure: DELETE /api/auth/me · FK ON DELETE CASCADE across 30+ child tables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Backups: Neon 7-day window, age out aligned with EDPB 06/2020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Inter"/>
              </a:rPr>
              <a:t>Governance &amp;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541004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RBAC (user / support / admin) · system_audit_log table · per-session inventory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NIST AI RMF–aligned audit on every AI coach turn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Crisis detection: Unicode, homoglyph, l33tspeak normalization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Input + output guardrails (prompt injection, role override, medical/legal/financial boundary checks)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1,043 tests across the stack (632 app · 411 server)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406908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Inter"/>
              </a:rPr>
              <a:t>Policy library (LLC repo)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4480560"/>
            <a:ext cx="541004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Information Security Policy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Access Control Policy (Plaid-evidence ready)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Data Retention and Disposal Policy (added 2026-05-17 for Plaid IAM Q11)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Privacy Policy live at plainlydigital.com/patet/privacy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•  </a:t>
            </a:r>
            <a:r>
              <a:rPr sz="1000">
                <a:solidFill>
                  <a:srgbClr val="0F0F0F"/>
                </a:solidFill>
                <a:latin typeface="Inter"/>
              </a:rPr>
              <a:t>Plaid form answers reference packet (PLAID_FORM_ANSWERS.md)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Patet · Plainly Digital LLC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0F0F"/>
                </a:solidFill>
                <a:latin typeface="Inter"/>
              </a:rPr>
              <a:t>Six-month roadmap, in order of confidence.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8288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848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Inter"/>
              </a:rPr>
              <a:t>Now → Month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574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0F0F"/>
                </a:solidFill>
                <a:latin typeface="Inter"/>
              </a:rPr>
              <a:t>Consumer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057400"/>
            <a:ext cx="64309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Patet ships strict-freemium to public (live as of 2026-05-16). RevenueCat entitlements + Plaid prod creds + Resend transactional email all wired this week. App Store + Play Store submission queued.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70632"/>
            <a:ext cx="18288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980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Inter"/>
              </a:rPr>
              <a:t>Month 1 →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77063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0F0F"/>
                </a:solidFill>
                <a:latin typeface="Inter"/>
              </a:rPr>
              <a:t>Affiliate revenue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770632"/>
            <a:ext cx="64309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11 affiliate partners across 7 categories (Self, SoFi, Marcus, YNAB, Fidelity, Discover, Ally, Chime, Wealthfront, Lemonade, Schwab). ROAS dashboard live at /api/admin/affiliate/roas. Per-partner conversion webhooks 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83864"/>
            <a:ext cx="18288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1129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Inter"/>
              </a:rPr>
              <a:t>Month 2 →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483864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0F0F"/>
                </a:solidFill>
                <a:latin typeface="Inter"/>
              </a:rPr>
              <a:t>Patet Certified™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483864"/>
            <a:ext cx="64309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50-question final assessment shipped. $19 one-time IAP via RevenueCat. LinkedIn add-to-profile URL helper. Vanity slug picker. Public verify endpoint. Credential as a B2B credential layer for community-college + NACFC coach licensing.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97096"/>
            <a:ext cx="18288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24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Inter"/>
              </a:rPr>
              <a:t>Month 3 →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197096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0F0F"/>
                </a:solidFill>
                <a:latin typeface="Inter"/>
              </a:rPr>
              <a:t>LATAM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197096"/>
            <a:ext cx="64309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Spanish lesson content shipped (machine-translated via Sonnet, native reviewer pass pending). 100% i18n parity test-enforced. Expansion candidate: Mexico, Colombia, Argentina.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10328"/>
            <a:ext cx="18288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Inter"/>
              </a:rPr>
              <a:t>Month 4 →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910328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0F0F"/>
                </a:solidFill>
                <a:latin typeface="Inter"/>
              </a:rPr>
              <a:t>B2B curriculum licensing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910328"/>
            <a:ext cx="64309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NACFC coach pilot (financial coaches license Patet curriculum for their clients). Community-college pilot. Employer benefits pilot via SHRM expo channel.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23560"/>
            <a:ext cx="18288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509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Inter"/>
              </a:rPr>
              <a:t>Month 6+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6235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0F0F"/>
                </a:solidFill>
                <a:latin typeface="Inter"/>
              </a:rPr>
              <a:t>GCP migration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623560"/>
            <a:ext cx="64309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Move backend off Render onto Cloud Run + Cloud SQL. Cloud Build CI on push. Already migrated other Plainly Digital products; Patet is on the queue.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Patet · Plainly Digital LLC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94560"/>
            <a:ext cx="164592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Inter"/>
              </a:rPr>
              <a:t>Thanks for partnering with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D1D5DB"/>
                </a:solidFill>
                <a:latin typeface="Inter"/>
              </a:rPr>
              <a:t>Plaid is the load-bearing partner in the most differentiated half of our product. We are building this slowly and carefully — security, governance, and customer trust first. Happy to walk through any specific area in more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37760"/>
            <a:ext cx="10332720" cy="128016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51206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Plainly Digital LLC  ·  DBA Patet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Operator: Jonathan Brock, Managing Member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apps@plainlydigital.com  ·  support@plainlydigital.com  ·  plainlydigital.com/patet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